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7.png" ContentType="image/png"/>
  <Override PartName="/ppt/media/image16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13.png" ContentType="image/png"/>
  <Override PartName="/ppt/media/image4.png" ContentType="image/png"/>
  <Override PartName="/ppt/media/image2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5.png" ContentType="image/png"/>
  <Override PartName="/ppt/media/image14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11.png" ContentType="image/png"/>
  <Override PartName="/ppt/media/image3.svg" ContentType="image/svg"/>
  <Override PartName="/ppt/media/image1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65CBE4-B850-419D-8F97-DF794D94F09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F7C23F-D7CC-4365-ACF9-E0BFDD5EEE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A0011A-8796-446D-A3B0-9FF397AC007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6C1BA5-315B-4F93-A827-575308C7E19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792235-D025-49A2-BB28-983C70634B5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39BF4F-A662-4EBB-A598-C35D2C556A8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0D01C3-EA0F-422C-B690-39F15EEDD7A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A455FAC-7934-4A4A-A5D1-D02F605DA7D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C9D17E-DEF2-411A-8E56-78D08140B8E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1B1910-F160-430D-BE0D-CB32801865C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411F3E-0A0E-44D1-AE33-2D045A27D39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0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5eb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2"/>
          <p:cNvSpPr/>
          <p:nvPr/>
        </p:nvSpPr>
        <p:spPr>
          <a:xfrm>
            <a:off x="4676760" y="117720"/>
            <a:ext cx="8934120" cy="3383640"/>
          </a:xfrm>
          <a:custGeom>
            <a:avLst/>
            <a:gdLst>
              <a:gd name="textAreaLeft" fmla="*/ 0 w 8934120"/>
              <a:gd name="textAreaRight" fmla="*/ 8934480 w 8934120"/>
              <a:gd name="textAreaTop" fmla="*/ 0 h 3383640"/>
              <a:gd name="textAreaBottom" fmla="*/ 3384000 h 3383640"/>
            </a:gdLst>
            <a:ahLst/>
            <a:cxnLst/>
            <a:rect l="textAreaLeft" t="textAreaTop" r="textAreaRight" b="textAreaBottom"/>
            <a:pathLst>
              <a:path w="8934512" h="3383946">
                <a:moveTo>
                  <a:pt x="0" y="0"/>
                </a:moveTo>
                <a:lnTo>
                  <a:pt x="8934512" y="0"/>
                </a:lnTo>
                <a:lnTo>
                  <a:pt x="8934512" y="3383946"/>
                </a:lnTo>
                <a:lnTo>
                  <a:pt x="0" y="338394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3"/>
          <p:cNvSpPr/>
          <p:nvPr/>
        </p:nvSpPr>
        <p:spPr>
          <a:xfrm>
            <a:off x="2199600" y="3815280"/>
            <a:ext cx="13905000" cy="337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6721"/>
              </a:lnSpc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Tesi di Laurea: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721"/>
              </a:lnSpc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Una metodologia computazionale per il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721"/>
              </a:lnSpc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riconoscimento di clustering alternativi nella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721"/>
              </a:lnSpc>
            </a:pPr>
            <a:r>
              <a:rPr b="1" lang="en-US" sz="48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trascrittomica spaziale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6063480" y="7936200"/>
            <a:ext cx="6177600" cy="18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64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Candidato: Matteo Cerinelli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64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Relatore: Prof. Vincenzo Bonnici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640"/>
              </a:lnSpc>
            </a:pP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640"/>
              </a:lnSpc>
            </a:pPr>
            <a:r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Open Sans Bold"/>
                <a:ea typeface="Open Sans Bold"/>
              </a:rPr>
              <a:t>Coorte 2024-2025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63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5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Freeform 6"/>
          <p:cNvSpPr/>
          <p:nvPr/>
        </p:nvSpPr>
        <p:spPr>
          <a:xfrm>
            <a:off x="556920" y="2742120"/>
            <a:ext cx="7809840" cy="5112000"/>
          </a:xfrm>
          <a:custGeom>
            <a:avLst/>
            <a:gdLst>
              <a:gd name="textAreaLeft" fmla="*/ 0 w 7809840"/>
              <a:gd name="textAreaRight" fmla="*/ 7810200 w 7809840"/>
              <a:gd name="textAreaTop" fmla="*/ 0 h 5112000"/>
              <a:gd name="textAreaBottom" fmla="*/ 5112360 h 5112000"/>
            </a:gdLst>
            <a:ahLst/>
            <a:cxnLst/>
            <a:rect l="textAreaLeft" t="textAreaTop" r="textAreaRight" b="textAreaBottom"/>
            <a:pathLst>
              <a:path w="7810084" h="5112279">
                <a:moveTo>
                  <a:pt x="0" y="0"/>
                </a:moveTo>
                <a:lnTo>
                  <a:pt x="7810085" y="0"/>
                </a:lnTo>
                <a:lnTo>
                  <a:pt x="7810085" y="5112279"/>
                </a:lnTo>
                <a:lnTo>
                  <a:pt x="0" y="5112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0" y="-142920"/>
            <a:ext cx="1547172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52"/>
              </a:lnSpc>
            </a:pPr>
            <a:r>
              <a:rPr b="1" lang="en-US" sz="7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Cos’è la Trascrittomica Spaziale?</a:t>
            </a:r>
            <a:endParaRPr b="0" lang="en-US" sz="7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Picture 9" descr="A diagram of dna sequence&#10;&#10;AI-generated content may be incorrect."/>
          <p:cNvPicPr/>
          <p:nvPr/>
        </p:nvPicPr>
        <p:blipFill>
          <a:blip r:embed="rId4"/>
          <a:stretch/>
        </p:blipFill>
        <p:spPr>
          <a:xfrm>
            <a:off x="391320" y="2743560"/>
            <a:ext cx="8327160" cy="510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70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2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Freeform 6"/>
          <p:cNvSpPr/>
          <p:nvPr/>
        </p:nvSpPr>
        <p:spPr>
          <a:xfrm>
            <a:off x="8894160" y="2742120"/>
            <a:ext cx="9132840" cy="5112000"/>
          </a:xfrm>
          <a:custGeom>
            <a:avLst/>
            <a:gdLst>
              <a:gd name="textAreaLeft" fmla="*/ 0 w 9132840"/>
              <a:gd name="textAreaRight" fmla="*/ 9133200 w 9132840"/>
              <a:gd name="textAreaTop" fmla="*/ 0 h 5112000"/>
              <a:gd name="textAreaBottom" fmla="*/ 5112360 h 5112000"/>
            </a:gdLst>
            <a:ahLst/>
            <a:cxnLst/>
            <a:rect l="textAreaLeft" t="textAreaTop" r="textAreaRight" b="textAreaBottom"/>
            <a:pathLst>
              <a:path w="9133306" h="5112279">
                <a:moveTo>
                  <a:pt x="0" y="0"/>
                </a:moveTo>
                <a:lnTo>
                  <a:pt x="9133306" y="0"/>
                </a:lnTo>
                <a:lnTo>
                  <a:pt x="9133306" y="5112279"/>
                </a:lnTo>
                <a:lnTo>
                  <a:pt x="0" y="51122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0" y="-142920"/>
            <a:ext cx="1747188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52"/>
              </a:lnSpc>
            </a:pPr>
            <a:r>
              <a:rPr b="1" lang="en-US" sz="7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Cos’è la Trascrittomica Spaziale?</a:t>
            </a:r>
            <a:endParaRPr b="0" lang="en-US" sz="7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9" descr="A diagram of dna sequence&#10;&#10;AI-generated content may be incorrect."/>
          <p:cNvPicPr/>
          <p:nvPr/>
        </p:nvPicPr>
        <p:blipFill>
          <a:blip r:embed="rId4"/>
          <a:stretch/>
        </p:blipFill>
        <p:spPr>
          <a:xfrm>
            <a:off x="391320" y="2743560"/>
            <a:ext cx="8327160" cy="5102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77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Freeform 6"/>
          <p:cNvSpPr/>
          <p:nvPr/>
        </p:nvSpPr>
        <p:spPr>
          <a:xfrm>
            <a:off x="1141560" y="3287160"/>
            <a:ext cx="4982760" cy="4982760"/>
          </a:xfrm>
          <a:custGeom>
            <a:avLst/>
            <a:gdLst>
              <a:gd name="textAreaLeft" fmla="*/ 0 w 4982760"/>
              <a:gd name="textAreaRight" fmla="*/ 4983120 w 4982760"/>
              <a:gd name="textAreaTop" fmla="*/ 0 h 4982760"/>
              <a:gd name="textAreaBottom" fmla="*/ 4983120 h 4982760"/>
            </a:gdLst>
            <a:ahLst/>
            <a:cxnLst/>
            <a:rect l="textAreaLeft" t="textAreaTop" r="textAreaRight" b="textAreaBottom"/>
            <a:pathLst>
              <a:path w="4983222" h="4983222">
                <a:moveTo>
                  <a:pt x="0" y="0"/>
                </a:moveTo>
                <a:lnTo>
                  <a:pt x="4983222" y="0"/>
                </a:lnTo>
                <a:lnTo>
                  <a:pt x="4983222" y="4983222"/>
                </a:lnTo>
                <a:lnTo>
                  <a:pt x="0" y="49832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0" y="-142920"/>
            <a:ext cx="1705176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52"/>
              </a:lnSpc>
            </a:pPr>
            <a:r>
              <a:rPr b="1" lang="en-US" sz="7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Cos’è la Trascrittomica Spaziale?</a:t>
            </a:r>
            <a:endParaRPr b="0" lang="en-US" sz="7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83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Freeform 6"/>
          <p:cNvSpPr/>
          <p:nvPr/>
        </p:nvSpPr>
        <p:spPr>
          <a:xfrm>
            <a:off x="6797160" y="2988720"/>
            <a:ext cx="5555880" cy="5579640"/>
          </a:xfrm>
          <a:custGeom>
            <a:avLst/>
            <a:gdLst>
              <a:gd name="textAreaLeft" fmla="*/ 0 w 5555880"/>
              <a:gd name="textAreaRight" fmla="*/ 5556240 w 5555880"/>
              <a:gd name="textAreaTop" fmla="*/ 0 h 5579640"/>
              <a:gd name="textAreaBottom" fmla="*/ 5580000 h 5579640"/>
            </a:gdLst>
            <a:ahLst/>
            <a:cxnLst/>
            <a:rect l="textAreaLeft" t="textAreaTop" r="textAreaRight" b="textAreaBottom"/>
            <a:pathLst>
              <a:path w="5556165" h="5580079">
                <a:moveTo>
                  <a:pt x="0" y="0"/>
                </a:moveTo>
                <a:lnTo>
                  <a:pt x="5556165" y="0"/>
                </a:lnTo>
                <a:lnTo>
                  <a:pt x="5556165" y="5580079"/>
                </a:lnTo>
                <a:lnTo>
                  <a:pt x="0" y="5580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Freeform 7"/>
          <p:cNvSpPr/>
          <p:nvPr/>
        </p:nvSpPr>
        <p:spPr>
          <a:xfrm>
            <a:off x="1141560" y="3287160"/>
            <a:ext cx="4982760" cy="4982760"/>
          </a:xfrm>
          <a:custGeom>
            <a:avLst/>
            <a:gdLst>
              <a:gd name="textAreaLeft" fmla="*/ 0 w 4982760"/>
              <a:gd name="textAreaRight" fmla="*/ 4983120 w 4982760"/>
              <a:gd name="textAreaTop" fmla="*/ 0 h 4982760"/>
              <a:gd name="textAreaBottom" fmla="*/ 4983120 h 4982760"/>
            </a:gdLst>
            <a:ahLst/>
            <a:cxnLst/>
            <a:rect l="textAreaLeft" t="textAreaTop" r="textAreaRight" b="textAreaBottom"/>
            <a:pathLst>
              <a:path w="4983222" h="4983222">
                <a:moveTo>
                  <a:pt x="0" y="0"/>
                </a:moveTo>
                <a:lnTo>
                  <a:pt x="4983222" y="0"/>
                </a:lnTo>
                <a:lnTo>
                  <a:pt x="4983222" y="4983222"/>
                </a:lnTo>
                <a:lnTo>
                  <a:pt x="0" y="49832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0" y="-142920"/>
            <a:ext cx="16631280" cy="119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52"/>
              </a:lnSpc>
            </a:pPr>
            <a:r>
              <a:rPr b="1" lang="en-US" sz="7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Cos’è la Trascrittomica Spaziale?</a:t>
            </a:r>
            <a:endParaRPr b="0" lang="en-US" sz="7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9" descr="A group of black text&#10;&#10;AI-generated content may be incorrect."/>
          <p:cNvPicPr/>
          <p:nvPr/>
        </p:nvPicPr>
        <p:blipFill>
          <a:blip r:embed="rId5"/>
          <a:stretch/>
        </p:blipFill>
        <p:spPr>
          <a:xfrm>
            <a:off x="13010040" y="2989800"/>
            <a:ext cx="5143320" cy="118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10" descr="A black text with a white background&#10;&#10;AI-generated content may be incorrect."/>
          <p:cNvPicPr/>
          <p:nvPr/>
        </p:nvPicPr>
        <p:blipFill>
          <a:blip r:embed="rId6"/>
          <a:stretch/>
        </p:blipFill>
        <p:spPr>
          <a:xfrm>
            <a:off x="13010040" y="4435200"/>
            <a:ext cx="5143320" cy="1180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Picture 11" descr=""/>
          <p:cNvPicPr/>
          <p:nvPr/>
        </p:nvPicPr>
        <p:blipFill>
          <a:blip r:embed="rId7"/>
          <a:stretch/>
        </p:blipFill>
        <p:spPr>
          <a:xfrm>
            <a:off x="13012200" y="5942880"/>
            <a:ext cx="2819160" cy="1123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12" descr="A number and dots on a white background&#10;&#10;AI-generated content may be incorrect."/>
          <p:cNvPicPr/>
          <p:nvPr/>
        </p:nvPicPr>
        <p:blipFill>
          <a:blip r:embed="rId8"/>
          <a:stretch/>
        </p:blipFill>
        <p:spPr>
          <a:xfrm>
            <a:off x="12983760" y="7386480"/>
            <a:ext cx="5162040" cy="116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94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Freeform 6"/>
          <p:cNvSpPr/>
          <p:nvPr/>
        </p:nvSpPr>
        <p:spPr>
          <a:xfrm>
            <a:off x="1746360" y="1460160"/>
            <a:ext cx="8533440" cy="6954840"/>
          </a:xfrm>
          <a:custGeom>
            <a:avLst/>
            <a:gdLst>
              <a:gd name="textAreaLeft" fmla="*/ 0 w 8533440"/>
              <a:gd name="textAreaRight" fmla="*/ 8533800 w 8533440"/>
              <a:gd name="textAreaTop" fmla="*/ 0 h 6954840"/>
              <a:gd name="textAreaBottom" fmla="*/ 6955200 h 6954840"/>
            </a:gdLst>
            <a:ahLst/>
            <a:cxnLst/>
            <a:rect l="textAreaLeft" t="textAreaTop" r="textAreaRight" b="textAreaBottom"/>
            <a:pathLst>
              <a:path w="8533888" h="6955118">
                <a:moveTo>
                  <a:pt x="0" y="0"/>
                </a:moveTo>
                <a:lnTo>
                  <a:pt x="8533887" y="0"/>
                </a:lnTo>
                <a:lnTo>
                  <a:pt x="8533887" y="6955118"/>
                </a:lnTo>
                <a:lnTo>
                  <a:pt x="0" y="695511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7"/>
          <p:cNvSpPr/>
          <p:nvPr/>
        </p:nvSpPr>
        <p:spPr>
          <a:xfrm>
            <a:off x="0" y="-142920"/>
            <a:ext cx="915012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Motivazione tesi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10690920" y="2655360"/>
            <a:ext cx="7042320" cy="116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80"/>
              </a:lnSpc>
            </a:pPr>
            <a:r>
              <a:rPr b="1" lang="en-US" sz="334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I metodi tradizionali individuano 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680"/>
              </a:lnSpc>
            </a:pPr>
            <a:r>
              <a:rPr b="1" lang="en-US" sz="334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pattern simili tra loro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9"/>
          <p:cNvSpPr/>
          <p:nvPr/>
        </p:nvSpPr>
        <p:spPr>
          <a:xfrm>
            <a:off x="10677240" y="5790960"/>
            <a:ext cx="7056000" cy="11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669"/>
              </a:lnSpc>
            </a:pPr>
            <a:r>
              <a:rPr b="1" lang="en-US" sz="334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Manca una metodologia in grado 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669"/>
              </a:lnSpc>
            </a:pPr>
            <a:r>
              <a:rPr b="1" lang="en-US" sz="334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 riconoscere cluster alternativi</a:t>
            </a:r>
            <a:endParaRPr b="0" lang="en-US" sz="33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02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4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Freeform 6"/>
          <p:cNvSpPr/>
          <p:nvPr/>
        </p:nvSpPr>
        <p:spPr>
          <a:xfrm>
            <a:off x="453960" y="3014280"/>
            <a:ext cx="17379720" cy="4257720"/>
          </a:xfrm>
          <a:custGeom>
            <a:avLst/>
            <a:gdLst>
              <a:gd name="textAreaLeft" fmla="*/ 0 w 17379720"/>
              <a:gd name="textAreaRight" fmla="*/ 17380080 w 17379720"/>
              <a:gd name="textAreaTop" fmla="*/ 0 h 4257720"/>
              <a:gd name="textAreaBottom" fmla="*/ 4258080 h 4257720"/>
            </a:gdLst>
            <a:ahLst/>
            <a:cxnLst/>
            <a:rect l="textAreaLeft" t="textAreaTop" r="textAreaRight" b="textAreaBottom"/>
            <a:pathLst>
              <a:path w="17379930" h="4258083">
                <a:moveTo>
                  <a:pt x="0" y="0"/>
                </a:moveTo>
                <a:lnTo>
                  <a:pt x="17379930" y="0"/>
                </a:lnTo>
                <a:lnTo>
                  <a:pt x="17379930" y="4258082"/>
                </a:lnTo>
                <a:lnTo>
                  <a:pt x="0" y="425808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0" y="-142920"/>
            <a:ext cx="868680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Preprocessing Dati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08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0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0" y="-142920"/>
            <a:ext cx="801936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Pipeline generale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6733440" y="2586600"/>
            <a:ext cx="532368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279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Calcolo dei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7279"/>
              </a:lnSpc>
              <a:tabLst>
                <a:tab algn="l" pos="0"/>
              </a:tabLst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rapporti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Group 15"/>
          <p:cNvGrpSpPr/>
          <p:nvPr/>
        </p:nvGrpSpPr>
        <p:grpSpPr>
          <a:xfrm>
            <a:off x="11935800" y="3639600"/>
            <a:ext cx="1635840" cy="1116360"/>
            <a:chOff x="11935800" y="3639600"/>
            <a:chExt cx="1635840" cy="1116360"/>
          </a:xfrm>
        </p:grpSpPr>
        <p:sp>
          <p:nvSpPr>
            <p:cNvPr id="114" name="Freeform 16"/>
            <p:cNvSpPr/>
            <p:nvPr/>
          </p:nvSpPr>
          <p:spPr>
            <a:xfrm rot="12278400">
              <a:off x="11970720" y="3942720"/>
              <a:ext cx="1566000" cy="509760"/>
            </a:xfrm>
            <a:custGeom>
              <a:avLst/>
              <a:gdLst>
                <a:gd name="textAreaLeft" fmla="*/ 0 w 1566000"/>
                <a:gd name="textAreaRight" fmla="*/ 1566360 w 1566000"/>
                <a:gd name="textAreaTop" fmla="*/ 0 h 509760"/>
                <a:gd name="textAreaBottom" fmla="*/ 510120 h 509760"/>
              </a:gdLst>
              <a:ahLst/>
              <a:cxnLst/>
              <a:rect l="textAreaLeft" t="textAreaTop" r="textAreaRight" b="textAreaBottom"/>
              <a:pathLst>
                <a:path w="1046020" h="381553">
                  <a:moveTo>
                    <a:pt x="239386" y="165433"/>
                  </a:moveTo>
                  <a:lnTo>
                    <a:pt x="1046020" y="165433"/>
                  </a:lnTo>
                  <a:lnTo>
                    <a:pt x="1046020" y="216110"/>
                  </a:lnTo>
                  <a:lnTo>
                    <a:pt x="239373" y="216110"/>
                  </a:lnTo>
                  <a:lnTo>
                    <a:pt x="302255" y="381553"/>
                  </a:lnTo>
                  <a:lnTo>
                    <a:pt x="0" y="190776"/>
                  </a:lnTo>
                  <a:lnTo>
                    <a:pt x="302255" y="0"/>
                  </a:lnTo>
                  <a:lnTo>
                    <a:pt x="239386" y="165433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TextBox 17"/>
            <p:cNvSpPr/>
            <p:nvPr/>
          </p:nvSpPr>
          <p:spPr>
            <a:xfrm rot="12278400">
              <a:off x="11968200" y="4123440"/>
              <a:ext cx="1385280" cy="119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ctr" defTabSz="914400">
                <a:lnSpc>
                  <a:spcPts val="2659"/>
                </a:lnSpc>
              </a:pPr>
              <a:endPara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116" name="Rectangle: Rounded Corners 25"/>
          <p:cNvSpPr/>
          <p:nvPr/>
        </p:nvSpPr>
        <p:spPr>
          <a:xfrm>
            <a:off x="218520" y="1260720"/>
            <a:ext cx="17682480" cy="4201920"/>
          </a:xfrm>
          <a:prstGeom prst="roundRect">
            <a:avLst>
              <a:gd name="adj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: Rounded Corners 23"/>
          <p:cNvSpPr/>
          <p:nvPr/>
        </p:nvSpPr>
        <p:spPr>
          <a:xfrm>
            <a:off x="689040" y="1411920"/>
            <a:ext cx="4370040" cy="1781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4124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Lista dei vicini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: Rounded Corners 26"/>
          <p:cNvSpPr/>
          <p:nvPr/>
        </p:nvSpPr>
        <p:spPr>
          <a:xfrm>
            <a:off x="6706800" y="2420640"/>
            <a:ext cx="4857480" cy="1781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515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Calibri"/>
              </a:rPr>
              <a:t>Calcolo dei rapporti</a:t>
            </a:r>
            <a:endParaRPr b="0" lang="en-US" sz="51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: Rounded Corners 27"/>
          <p:cNvSpPr/>
          <p:nvPr/>
        </p:nvSpPr>
        <p:spPr>
          <a:xfrm>
            <a:off x="13178160" y="2420640"/>
            <a:ext cx="4302720" cy="1781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ts val="4124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Analisi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4124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Grafica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: Rounded Corners 28"/>
          <p:cNvSpPr/>
          <p:nvPr/>
        </p:nvSpPr>
        <p:spPr>
          <a:xfrm>
            <a:off x="6689880" y="6858000"/>
            <a:ext cx="4907880" cy="1781280"/>
          </a:xfrm>
          <a:prstGeom prst="roundRect">
            <a:avLst>
              <a:gd name="adj" fmla="val 16667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ts val="7279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</a:rPr>
              <a:t>Clustering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Arrow: Right 29"/>
          <p:cNvSpPr/>
          <p:nvPr/>
        </p:nvSpPr>
        <p:spPr>
          <a:xfrm>
            <a:off x="5395680" y="2706120"/>
            <a:ext cx="1142640" cy="1293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2" name="Arrow: Right 30"/>
          <p:cNvSpPr/>
          <p:nvPr/>
        </p:nvSpPr>
        <p:spPr>
          <a:xfrm>
            <a:off x="11883960" y="2706120"/>
            <a:ext cx="1142640" cy="1293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3" name="Arrow: Right 31"/>
          <p:cNvSpPr/>
          <p:nvPr/>
        </p:nvSpPr>
        <p:spPr>
          <a:xfrm rot="5400000">
            <a:off x="8573040" y="5496480"/>
            <a:ext cx="1142640" cy="1293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  <a:ea typeface="Calibri"/>
            </a:endParaRPr>
          </a:p>
        </p:txBody>
      </p:sp>
      <p:sp>
        <p:nvSpPr>
          <p:cNvPr id="124" name="Rectangle: Rounded Corners 32"/>
          <p:cNvSpPr/>
          <p:nvPr/>
        </p:nvSpPr>
        <p:spPr>
          <a:xfrm>
            <a:off x="689040" y="3496320"/>
            <a:ext cx="4370040" cy="1781280"/>
          </a:xfrm>
          <a:prstGeom prst="roundRect">
            <a:avLst>
              <a:gd name="adj" fmla="val 16667"/>
            </a:avLst>
          </a:prstGeom>
          <a:solidFill>
            <a:srgbClr val="4f81bd"/>
          </a:solidFill>
          <a:ln>
            <a:solidFill>
              <a:srgbClr val="22385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anchor="ctr">
            <a:noAutofit/>
          </a:bodyPr>
          <a:p>
            <a:pPr algn="ctr" defTabSz="914400">
              <a:lnSpc>
                <a:spcPts val="4124"/>
              </a:lnSpc>
            </a:pPr>
            <a:r>
              <a:rPr b="1" lang="en-US" sz="5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Divisione in sottogeni</a:t>
            </a:r>
            <a:endParaRPr b="0" lang="en-US" sz="5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26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Freeform 6"/>
          <p:cNvSpPr/>
          <p:nvPr/>
        </p:nvSpPr>
        <p:spPr>
          <a:xfrm>
            <a:off x="12107160" y="1341360"/>
            <a:ext cx="5913720" cy="5913720"/>
          </a:xfrm>
          <a:custGeom>
            <a:avLst/>
            <a:gdLst>
              <a:gd name="textAreaLeft" fmla="*/ 0 w 5913720"/>
              <a:gd name="textAreaRight" fmla="*/ 5914080 w 5913720"/>
              <a:gd name="textAreaTop" fmla="*/ 0 h 5913720"/>
              <a:gd name="textAreaBottom" fmla="*/ 5914080 h 5913720"/>
            </a:gdLst>
            <a:ahLst/>
            <a:cxnLst/>
            <a:rect l="textAreaLeft" t="textAreaTop" r="textAreaRight" b="textAreaBottom"/>
            <a:pathLst>
              <a:path w="5913956" h="5913956">
                <a:moveTo>
                  <a:pt x="0" y="0"/>
                </a:moveTo>
                <a:lnTo>
                  <a:pt x="5913956" y="0"/>
                </a:lnTo>
                <a:lnTo>
                  <a:pt x="5913956" y="5913956"/>
                </a:lnTo>
                <a:lnTo>
                  <a:pt x="0" y="59139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Freeform 7"/>
          <p:cNvSpPr/>
          <p:nvPr/>
        </p:nvSpPr>
        <p:spPr>
          <a:xfrm>
            <a:off x="6022800" y="1341360"/>
            <a:ext cx="5913720" cy="5913720"/>
          </a:xfrm>
          <a:custGeom>
            <a:avLst/>
            <a:gdLst>
              <a:gd name="textAreaLeft" fmla="*/ 0 w 5913720"/>
              <a:gd name="textAreaRight" fmla="*/ 5914080 w 5913720"/>
              <a:gd name="textAreaTop" fmla="*/ 0 h 5913720"/>
              <a:gd name="textAreaBottom" fmla="*/ 5914080 h 5913720"/>
            </a:gdLst>
            <a:ahLst/>
            <a:cxnLst/>
            <a:rect l="textAreaLeft" t="textAreaTop" r="textAreaRight" b="textAreaBottom"/>
            <a:pathLst>
              <a:path w="5913956" h="5913956">
                <a:moveTo>
                  <a:pt x="0" y="0"/>
                </a:moveTo>
                <a:lnTo>
                  <a:pt x="5913956" y="0"/>
                </a:lnTo>
                <a:lnTo>
                  <a:pt x="5913956" y="5913956"/>
                </a:lnTo>
                <a:lnTo>
                  <a:pt x="0" y="591395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Freeform 8"/>
          <p:cNvSpPr/>
          <p:nvPr/>
        </p:nvSpPr>
        <p:spPr>
          <a:xfrm>
            <a:off x="8174160" y="6996240"/>
            <a:ext cx="1611360" cy="1611360"/>
          </a:xfrm>
          <a:custGeom>
            <a:avLst/>
            <a:gdLst>
              <a:gd name="textAreaLeft" fmla="*/ 0 w 1611360"/>
              <a:gd name="textAreaRight" fmla="*/ 1611720 w 1611360"/>
              <a:gd name="textAreaTop" fmla="*/ 0 h 1611360"/>
              <a:gd name="textAreaBottom" fmla="*/ 1611720 h 1611360"/>
            </a:gdLst>
            <a:ahLst/>
            <a:cxnLst/>
            <a:rect l="textAreaLeft" t="textAreaTop" r="textAreaRight" b="textAreaBottom"/>
            <a:pathLst>
              <a:path w="1611684" h="1611684">
                <a:moveTo>
                  <a:pt x="0" y="0"/>
                </a:moveTo>
                <a:lnTo>
                  <a:pt x="1611683" y="0"/>
                </a:lnTo>
                <a:lnTo>
                  <a:pt x="1611683" y="1611683"/>
                </a:lnTo>
                <a:lnTo>
                  <a:pt x="0" y="16116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Freeform 9"/>
          <p:cNvSpPr/>
          <p:nvPr/>
        </p:nvSpPr>
        <p:spPr>
          <a:xfrm>
            <a:off x="14258160" y="6996240"/>
            <a:ext cx="1611360" cy="1611360"/>
          </a:xfrm>
          <a:custGeom>
            <a:avLst/>
            <a:gdLst>
              <a:gd name="textAreaLeft" fmla="*/ 0 w 1611360"/>
              <a:gd name="textAreaRight" fmla="*/ 1611720 w 1611360"/>
              <a:gd name="textAreaTop" fmla="*/ 0 h 1611360"/>
              <a:gd name="textAreaBottom" fmla="*/ 1611720 h 1611360"/>
            </a:gdLst>
            <a:ahLst/>
            <a:cxnLst/>
            <a:rect l="textAreaLeft" t="textAreaTop" r="textAreaRight" b="textAreaBottom"/>
            <a:pathLst>
              <a:path w="1611684" h="1611684">
                <a:moveTo>
                  <a:pt x="0" y="0"/>
                </a:moveTo>
                <a:lnTo>
                  <a:pt x="1611684" y="0"/>
                </a:lnTo>
                <a:lnTo>
                  <a:pt x="1611684" y="1611683"/>
                </a:lnTo>
                <a:lnTo>
                  <a:pt x="0" y="1611683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0" y="-142920"/>
            <a:ext cx="68306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Lista dei vicini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112320" y="2286000"/>
            <a:ext cx="5802480" cy="71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76"/>
              </a:lnSpc>
            </a:pP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K - Nearest Neighbors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1923120" y="3886200"/>
            <a:ext cx="2180520" cy="74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76"/>
              </a:lnSpc>
            </a:pP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K = 6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7373160" y="1349640"/>
            <a:ext cx="323028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062"/>
              </a:lnSpc>
            </a:pPr>
            <a:r>
              <a:rPr b="1" lang="en-US" sz="2900" strike="noStrike" u="none">
                <a:solidFill>
                  <a:srgbClr val="005eb8"/>
                </a:solidFill>
                <a:effectLst/>
                <a:uFillTx/>
                <a:latin typeface="Open Sans Bold"/>
                <a:ea typeface="Open Sans Bold"/>
              </a:rPr>
              <a:t>Pre filtro raggio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 rot="21000">
            <a:off x="13257000" y="1411200"/>
            <a:ext cx="3692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062"/>
              </a:lnSpc>
            </a:pPr>
            <a:r>
              <a:rPr b="1" lang="en-US" sz="2900" strike="noStrike" u="none">
                <a:solidFill>
                  <a:srgbClr val="005eb8"/>
                </a:solidFill>
                <a:effectLst/>
                <a:uFillTx/>
                <a:latin typeface="Open Sans Bold"/>
                <a:ea typeface="Open Sans Bold"/>
              </a:rPr>
              <a:t>Dopo filtro raggio</a:t>
            </a:r>
            <a:endParaRPr b="0" lang="en-US" sz="2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464760" y="5616000"/>
            <a:ext cx="509796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76"/>
              </a:lnSpc>
            </a:pP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Distanza spot-spot: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5876"/>
              </a:lnSpc>
            </a:pPr>
            <a:r>
              <a:rPr b="1" lang="en-US" sz="42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≈ 100 µm 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40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2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Freeform 6"/>
          <p:cNvSpPr/>
          <p:nvPr/>
        </p:nvSpPr>
        <p:spPr>
          <a:xfrm>
            <a:off x="387720" y="3105360"/>
            <a:ext cx="17512200" cy="3852360"/>
          </a:xfrm>
          <a:custGeom>
            <a:avLst/>
            <a:gdLst>
              <a:gd name="textAreaLeft" fmla="*/ 0 w 17512200"/>
              <a:gd name="textAreaRight" fmla="*/ 17512560 w 17512200"/>
              <a:gd name="textAreaTop" fmla="*/ 0 h 3852360"/>
              <a:gd name="textAreaBottom" fmla="*/ 3852720 h 3852360"/>
            </a:gdLst>
            <a:ahLst/>
            <a:cxnLst/>
            <a:rect l="textAreaLeft" t="textAreaTop" r="textAreaRight" b="textAreaBottom"/>
            <a:pathLst>
              <a:path w="17512662" h="3852786">
                <a:moveTo>
                  <a:pt x="0" y="0"/>
                </a:moveTo>
                <a:lnTo>
                  <a:pt x="17512662" y="0"/>
                </a:lnTo>
                <a:lnTo>
                  <a:pt x="17512662" y="3852786"/>
                </a:lnTo>
                <a:lnTo>
                  <a:pt x="0" y="385278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0" y="-142920"/>
            <a:ext cx="1051560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Divisione in sottogeni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1540440" y="1628280"/>
            <a:ext cx="15206400" cy="12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179"/>
              </a:lnSpc>
            </a:pPr>
            <a:r>
              <a:rPr b="1" lang="en-US" sz="37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Ricercato le componenti connesse attraverso l’algoritmo BFS, con soglia minima per evitare cluster trascurabili</a:t>
            </a:r>
            <a:endParaRPr b="0" lang="en-US" sz="3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9"/>
          <p:cNvSpPr/>
          <p:nvPr/>
        </p:nvSpPr>
        <p:spPr>
          <a:xfrm>
            <a:off x="3970800" y="7574400"/>
            <a:ext cx="10346040" cy="53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60"/>
              </a:lnSpc>
            </a:pPr>
            <a:r>
              <a:rPr b="1" lang="en-US" sz="312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[‘gene_id’, ‘sub_id’, ‘count’, ‘comp_mask’]</a:t>
            </a:r>
            <a:endParaRPr b="0" lang="en-US" sz="31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48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0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6"/>
          <p:cNvSpPr/>
          <p:nvPr/>
        </p:nvSpPr>
        <p:spPr>
          <a:xfrm>
            <a:off x="0" y="-142920"/>
            <a:ext cx="892764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Calcolo dei rapporti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7"/>
          <p:cNvSpPr/>
          <p:nvPr/>
        </p:nvSpPr>
        <p:spPr>
          <a:xfrm>
            <a:off x="294480" y="1554120"/>
            <a:ext cx="253836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4"/>
              </a:lnSpc>
            </a:pPr>
            <a:r>
              <a:rPr b="1" lang="en-US" sz="3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5 Rapporti: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8"/>
          <p:cNvSpPr/>
          <p:nvPr/>
        </p:nvSpPr>
        <p:spPr>
          <a:xfrm>
            <a:off x="662040" y="2105640"/>
            <a:ext cx="3140640" cy="23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Disgiunti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B_Contenuto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In_Costa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9"/>
          <p:cNvSpPr/>
          <p:nvPr/>
        </p:nvSpPr>
        <p:spPr>
          <a:xfrm>
            <a:off x="4740120" y="1277640"/>
            <a:ext cx="13547520" cy="258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br>
              <a:rPr sz="3600"/>
            </a:b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Lucida Console Semi-Bold"/>
                <a:ea typeface="Calibri"/>
              </a:rPr>
              <a:t>inter = A &amp; B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Lucida Console Semi-Bold"/>
                <a:ea typeface="Calibri"/>
              </a:rPr>
              <a:t>overlapA = (len(inter) / len(A)) if A else 0.0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Lucida Console Semi-Bold"/>
                <a:ea typeface="Calibri"/>
              </a:rPr>
              <a:t>overlapB = (len(inter) / len(B)) if B else 0.0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0"/>
          <p:cNvSpPr/>
          <p:nvPr/>
        </p:nvSpPr>
        <p:spPr>
          <a:xfrm>
            <a:off x="655560" y="5479560"/>
            <a:ext cx="17363160" cy="23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non ho intersezioni sono </a:t>
            </a: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Disgiunti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ho tanto overlap e sono sopra una certa soglia sono </a:t>
            </a: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In_Costa</a:t>
            </a:r>
            <a:br>
              <a:rPr sz="3600"/>
            </a:b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ho poco overlap e sotto una certa soglia sono </a:t>
            </a: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Vicini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Se ho l'intersezione che è uguale al totale di spot di uno dei geni allora ho un </a:t>
            </a:r>
            <a:r>
              <a:rPr b="1" lang="en-US" sz="3600" strike="noStrike" u="non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Contenimento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57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9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Freeform 6"/>
          <p:cNvSpPr/>
          <p:nvPr/>
        </p:nvSpPr>
        <p:spPr>
          <a:xfrm>
            <a:off x="6988680" y="1262160"/>
            <a:ext cx="11031840" cy="2385360"/>
          </a:xfrm>
          <a:custGeom>
            <a:avLst/>
            <a:gdLst>
              <a:gd name="textAreaLeft" fmla="*/ 0 w 11031840"/>
              <a:gd name="textAreaRight" fmla="*/ 11032200 w 11031840"/>
              <a:gd name="textAreaTop" fmla="*/ 0 h 2385360"/>
              <a:gd name="textAreaBottom" fmla="*/ 2385720 h 2385360"/>
            </a:gdLst>
            <a:ahLst/>
            <a:cxnLst/>
            <a:rect l="textAreaLeft" t="textAreaTop" r="textAreaRight" b="textAreaBottom"/>
            <a:pathLst>
              <a:path w="11032116" h="2385695">
                <a:moveTo>
                  <a:pt x="0" y="0"/>
                </a:moveTo>
                <a:lnTo>
                  <a:pt x="11032115" y="0"/>
                </a:lnTo>
                <a:lnTo>
                  <a:pt x="11032115" y="2385695"/>
                </a:lnTo>
                <a:lnTo>
                  <a:pt x="0" y="23856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7"/>
          <p:cNvSpPr/>
          <p:nvPr/>
        </p:nvSpPr>
        <p:spPr>
          <a:xfrm>
            <a:off x="0" y="-142920"/>
            <a:ext cx="891072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Calcolo dei rapporti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8"/>
          <p:cNvSpPr/>
          <p:nvPr/>
        </p:nvSpPr>
        <p:spPr>
          <a:xfrm>
            <a:off x="294480" y="1554120"/>
            <a:ext cx="253836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4"/>
              </a:lnSpc>
            </a:pPr>
            <a:r>
              <a:rPr b="1" lang="en-US" sz="3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5 Rapporti: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9"/>
          <p:cNvSpPr/>
          <p:nvPr/>
        </p:nvSpPr>
        <p:spPr>
          <a:xfrm>
            <a:off x="662040" y="2105640"/>
            <a:ext cx="3140640" cy="23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Disgiunti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B_Contenuto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In_Costa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0"/>
          <p:cNvSpPr/>
          <p:nvPr/>
        </p:nvSpPr>
        <p:spPr>
          <a:xfrm>
            <a:off x="595800" y="5103360"/>
            <a:ext cx="3273480" cy="31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[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‘gene_id_a’,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‘sub_id_a’,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‘gene_id_b’,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‘sub_id_b’,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‘rapporto’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]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1"/>
          <p:cNvSpPr/>
          <p:nvPr/>
        </p:nvSpPr>
        <p:spPr>
          <a:xfrm>
            <a:off x="4123800" y="1404720"/>
            <a:ext cx="273780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36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'|A|': 1416,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'|B|': 638,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'|A∩B|': 0,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'overlapA': 0.000,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'overlapB': 0.000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67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8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9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Freeform 6"/>
          <p:cNvSpPr/>
          <p:nvPr/>
        </p:nvSpPr>
        <p:spPr>
          <a:xfrm>
            <a:off x="6988680" y="1262160"/>
            <a:ext cx="11031840" cy="2385360"/>
          </a:xfrm>
          <a:custGeom>
            <a:avLst/>
            <a:gdLst>
              <a:gd name="textAreaLeft" fmla="*/ 0 w 11031840"/>
              <a:gd name="textAreaRight" fmla="*/ 11032200 w 11031840"/>
              <a:gd name="textAreaTop" fmla="*/ 0 h 2385360"/>
              <a:gd name="textAreaBottom" fmla="*/ 2385720 h 2385360"/>
            </a:gdLst>
            <a:ahLst/>
            <a:cxnLst/>
            <a:rect l="textAreaLeft" t="textAreaTop" r="textAreaRight" b="textAreaBottom"/>
            <a:pathLst>
              <a:path w="11032116" h="2385695">
                <a:moveTo>
                  <a:pt x="0" y="0"/>
                </a:moveTo>
                <a:lnTo>
                  <a:pt x="11032115" y="0"/>
                </a:lnTo>
                <a:lnTo>
                  <a:pt x="11032115" y="2385695"/>
                </a:lnTo>
                <a:lnTo>
                  <a:pt x="0" y="23856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Freeform 7"/>
          <p:cNvSpPr/>
          <p:nvPr/>
        </p:nvSpPr>
        <p:spPr>
          <a:xfrm>
            <a:off x="6988680" y="3744720"/>
            <a:ext cx="11031840" cy="2385360"/>
          </a:xfrm>
          <a:custGeom>
            <a:avLst/>
            <a:gdLst>
              <a:gd name="textAreaLeft" fmla="*/ 0 w 11031840"/>
              <a:gd name="textAreaRight" fmla="*/ 11032200 w 11031840"/>
              <a:gd name="textAreaTop" fmla="*/ 0 h 2385360"/>
              <a:gd name="textAreaBottom" fmla="*/ 2385720 h 2385360"/>
            </a:gdLst>
            <a:ahLst/>
            <a:cxnLst/>
            <a:rect l="textAreaLeft" t="textAreaTop" r="textAreaRight" b="textAreaBottom"/>
            <a:pathLst>
              <a:path w="11032116" h="2385695">
                <a:moveTo>
                  <a:pt x="0" y="0"/>
                </a:moveTo>
                <a:lnTo>
                  <a:pt x="11032115" y="0"/>
                </a:lnTo>
                <a:lnTo>
                  <a:pt x="11032115" y="2385696"/>
                </a:lnTo>
                <a:lnTo>
                  <a:pt x="0" y="23856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8"/>
          <p:cNvSpPr/>
          <p:nvPr/>
        </p:nvSpPr>
        <p:spPr>
          <a:xfrm>
            <a:off x="0" y="-142920"/>
            <a:ext cx="886032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Calcolo dei rapporti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294480" y="1554120"/>
            <a:ext cx="253836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4"/>
              </a:lnSpc>
            </a:pPr>
            <a:r>
              <a:rPr b="1" lang="en-US" sz="3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5 Rapporti: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662040" y="2105640"/>
            <a:ext cx="3140640" cy="23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Disgiunti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B_Contenuto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In_Costa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11"/>
          <p:cNvSpPr/>
          <p:nvPr/>
        </p:nvSpPr>
        <p:spPr>
          <a:xfrm>
            <a:off x="595800" y="5103360"/>
            <a:ext cx="3273480" cy="31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[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‘gene_id_a’,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‘sub_id_a’,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‘gene_id_b’,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‘sub_id_b’,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‘rapporto’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]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2"/>
          <p:cNvSpPr/>
          <p:nvPr/>
        </p:nvSpPr>
        <p:spPr>
          <a:xfrm>
            <a:off x="4123800" y="1404720"/>
            <a:ext cx="273780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36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'|A|': 1416,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'|B|': 638,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'|A∩B|': 0,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'overlapA': 0.000,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'overlapB': 0.000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4123800" y="3791160"/>
            <a:ext cx="273780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36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'|A|': 2238,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'|B|': 1249,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'|A∩B|': 1249,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'overlapA': 0.534,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'overlapB': 1.000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79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1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Freeform 6"/>
          <p:cNvSpPr/>
          <p:nvPr/>
        </p:nvSpPr>
        <p:spPr>
          <a:xfrm>
            <a:off x="6988680" y="6227280"/>
            <a:ext cx="11031840" cy="2385360"/>
          </a:xfrm>
          <a:custGeom>
            <a:avLst/>
            <a:gdLst>
              <a:gd name="textAreaLeft" fmla="*/ 0 w 11031840"/>
              <a:gd name="textAreaRight" fmla="*/ 11032200 w 11031840"/>
              <a:gd name="textAreaTop" fmla="*/ 0 h 2385360"/>
              <a:gd name="textAreaBottom" fmla="*/ 2385720 h 2385360"/>
            </a:gdLst>
            <a:ahLst/>
            <a:cxnLst/>
            <a:rect l="textAreaLeft" t="textAreaTop" r="textAreaRight" b="textAreaBottom"/>
            <a:pathLst>
              <a:path w="11032116" h="2385695">
                <a:moveTo>
                  <a:pt x="0" y="0"/>
                </a:moveTo>
                <a:lnTo>
                  <a:pt x="11032115" y="0"/>
                </a:lnTo>
                <a:lnTo>
                  <a:pt x="11032115" y="2385695"/>
                </a:lnTo>
                <a:lnTo>
                  <a:pt x="0" y="23856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Freeform 7"/>
          <p:cNvSpPr/>
          <p:nvPr/>
        </p:nvSpPr>
        <p:spPr>
          <a:xfrm>
            <a:off x="6988680" y="1262160"/>
            <a:ext cx="11031840" cy="2385360"/>
          </a:xfrm>
          <a:custGeom>
            <a:avLst/>
            <a:gdLst>
              <a:gd name="textAreaLeft" fmla="*/ 0 w 11031840"/>
              <a:gd name="textAreaRight" fmla="*/ 11032200 w 11031840"/>
              <a:gd name="textAreaTop" fmla="*/ 0 h 2385360"/>
              <a:gd name="textAreaBottom" fmla="*/ 2385720 h 2385360"/>
            </a:gdLst>
            <a:ahLst/>
            <a:cxnLst/>
            <a:rect l="textAreaLeft" t="textAreaTop" r="textAreaRight" b="textAreaBottom"/>
            <a:pathLst>
              <a:path w="11032116" h="2385695">
                <a:moveTo>
                  <a:pt x="0" y="0"/>
                </a:moveTo>
                <a:lnTo>
                  <a:pt x="11032115" y="0"/>
                </a:lnTo>
                <a:lnTo>
                  <a:pt x="11032115" y="2385695"/>
                </a:lnTo>
                <a:lnTo>
                  <a:pt x="0" y="238569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Freeform 8"/>
          <p:cNvSpPr/>
          <p:nvPr/>
        </p:nvSpPr>
        <p:spPr>
          <a:xfrm>
            <a:off x="6988680" y="3744720"/>
            <a:ext cx="11031840" cy="2385360"/>
          </a:xfrm>
          <a:custGeom>
            <a:avLst/>
            <a:gdLst>
              <a:gd name="textAreaLeft" fmla="*/ 0 w 11031840"/>
              <a:gd name="textAreaRight" fmla="*/ 11032200 w 11031840"/>
              <a:gd name="textAreaTop" fmla="*/ 0 h 2385360"/>
              <a:gd name="textAreaBottom" fmla="*/ 2385720 h 2385360"/>
            </a:gdLst>
            <a:ahLst/>
            <a:cxnLst/>
            <a:rect l="textAreaLeft" t="textAreaTop" r="textAreaRight" b="textAreaBottom"/>
            <a:pathLst>
              <a:path w="11032116" h="2385695">
                <a:moveTo>
                  <a:pt x="0" y="0"/>
                </a:moveTo>
                <a:lnTo>
                  <a:pt x="11032115" y="0"/>
                </a:lnTo>
                <a:lnTo>
                  <a:pt x="11032115" y="2385696"/>
                </a:lnTo>
                <a:lnTo>
                  <a:pt x="0" y="238569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9"/>
          <p:cNvSpPr/>
          <p:nvPr/>
        </p:nvSpPr>
        <p:spPr>
          <a:xfrm>
            <a:off x="0" y="-142920"/>
            <a:ext cx="8843400" cy="12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Calcolo dei rapporti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0"/>
          <p:cNvSpPr/>
          <p:nvPr/>
        </p:nvSpPr>
        <p:spPr>
          <a:xfrm>
            <a:off x="294480" y="1554120"/>
            <a:ext cx="2538360" cy="53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4"/>
              </a:lnSpc>
            </a:pPr>
            <a:r>
              <a:rPr b="1" lang="en-US" sz="31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5 Rapporti:</a:t>
            </a:r>
            <a:endParaRPr b="0" lang="en-US" sz="31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1"/>
          <p:cNvSpPr/>
          <p:nvPr/>
        </p:nvSpPr>
        <p:spPr>
          <a:xfrm>
            <a:off x="662040" y="2105640"/>
            <a:ext cx="3140640" cy="23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Disgiunti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B_Contenuto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In_Costa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81040" indent="-290520" defTabSz="914400">
              <a:lnSpc>
                <a:spcPts val="3767"/>
              </a:lnSpc>
              <a:buClr>
                <a:srgbClr val="000000"/>
              </a:buClr>
              <a:buFont typeface="Arial"/>
              <a:buChar char="•"/>
            </a:pPr>
            <a:r>
              <a:rPr b="1" lang="en-US" sz="269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6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2"/>
          <p:cNvSpPr/>
          <p:nvPr/>
        </p:nvSpPr>
        <p:spPr>
          <a:xfrm>
            <a:off x="595800" y="5103360"/>
            <a:ext cx="3273480" cy="31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[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‘gene_id_a’,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‘sub_id_a’,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‘gene_id_b’,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‘sub_id_b’, 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‘rapporto’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9"/>
              </a:lnSpc>
            </a:pPr>
            <a:r>
              <a:rPr b="1" lang="en-US" sz="255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]</a:t>
            </a:r>
            <a:endParaRPr b="0" lang="en-U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3"/>
          <p:cNvSpPr/>
          <p:nvPr/>
        </p:nvSpPr>
        <p:spPr>
          <a:xfrm>
            <a:off x="4123800" y="1404720"/>
            <a:ext cx="273780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36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'|A|': 1416,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'|B|': 638,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'|A∩B|': 0,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'overlapA': 0.000,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'overlapB': 0.000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Box 14"/>
          <p:cNvSpPr/>
          <p:nvPr/>
        </p:nvSpPr>
        <p:spPr>
          <a:xfrm>
            <a:off x="4123800" y="3791160"/>
            <a:ext cx="273780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36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'|A|': 2238,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'|B|': 1249,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'|A∩B|': 1249,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'overlapA': 0.534,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'overlapB': 1.000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15"/>
          <p:cNvSpPr/>
          <p:nvPr/>
        </p:nvSpPr>
        <p:spPr>
          <a:xfrm>
            <a:off x="4123800" y="6275880"/>
            <a:ext cx="2737800" cy="20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336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'|A|': 835,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'|B|': 2246,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'|A∩B|': 25, 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'overlapA': 0.029,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r>
              <a:rPr b="1" lang="en-US" sz="167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  'overlapB': 0.011</a:t>
            </a: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336"/>
              </a:lnSpc>
            </a:pPr>
            <a:endParaRPr b="0" lang="en-US" sz="16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193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5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Freeform 6"/>
          <p:cNvSpPr/>
          <p:nvPr/>
        </p:nvSpPr>
        <p:spPr>
          <a:xfrm>
            <a:off x="537480" y="1330200"/>
            <a:ext cx="2644200" cy="2412000"/>
          </a:xfrm>
          <a:custGeom>
            <a:avLst/>
            <a:gdLst>
              <a:gd name="textAreaLeft" fmla="*/ 0 w 2644200"/>
              <a:gd name="textAreaRight" fmla="*/ 2644560 w 2644200"/>
              <a:gd name="textAreaTop" fmla="*/ 0 h 2412000"/>
              <a:gd name="textAreaBottom" fmla="*/ 2412360 h 2412000"/>
            </a:gdLst>
            <a:ahLst/>
            <a:cxnLst/>
            <a:rect l="textAreaLeft" t="textAreaTop" r="textAreaRight" b="textAreaBottom"/>
            <a:pathLst>
              <a:path w="2644424" h="2412457">
                <a:moveTo>
                  <a:pt x="0" y="0"/>
                </a:moveTo>
                <a:lnTo>
                  <a:pt x="2644425" y="0"/>
                </a:lnTo>
                <a:lnTo>
                  <a:pt x="2644425" y="2412458"/>
                </a:lnTo>
                <a:lnTo>
                  <a:pt x="0" y="241245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Freeform 7"/>
          <p:cNvSpPr/>
          <p:nvPr/>
        </p:nvSpPr>
        <p:spPr>
          <a:xfrm>
            <a:off x="1225080" y="4123800"/>
            <a:ext cx="4535640" cy="4535640"/>
          </a:xfrm>
          <a:custGeom>
            <a:avLst/>
            <a:gdLst>
              <a:gd name="textAreaLeft" fmla="*/ 0 w 4535640"/>
              <a:gd name="textAreaRight" fmla="*/ 4536000 w 4535640"/>
              <a:gd name="textAreaTop" fmla="*/ 0 h 4535640"/>
              <a:gd name="textAreaBottom" fmla="*/ 4536000 h 4535640"/>
            </a:gdLst>
            <a:ahLst/>
            <a:cxnLst/>
            <a:rect l="textAreaLeft" t="textAreaTop" r="textAreaRight" b="textAreaBottom"/>
            <a:pathLst>
              <a:path w="4535959" h="4535959">
                <a:moveTo>
                  <a:pt x="0" y="0"/>
                </a:moveTo>
                <a:lnTo>
                  <a:pt x="4535959" y="0"/>
                </a:lnTo>
                <a:lnTo>
                  <a:pt x="4535959" y="4535959"/>
                </a:lnTo>
                <a:lnTo>
                  <a:pt x="0" y="45359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Freeform 8"/>
          <p:cNvSpPr/>
          <p:nvPr/>
        </p:nvSpPr>
        <p:spPr>
          <a:xfrm>
            <a:off x="6699960" y="4123800"/>
            <a:ext cx="4535640" cy="4535640"/>
          </a:xfrm>
          <a:custGeom>
            <a:avLst/>
            <a:gdLst>
              <a:gd name="textAreaLeft" fmla="*/ 0 w 4535640"/>
              <a:gd name="textAreaRight" fmla="*/ 4536000 w 4535640"/>
              <a:gd name="textAreaTop" fmla="*/ 0 h 4535640"/>
              <a:gd name="textAreaBottom" fmla="*/ 4536000 h 4535640"/>
            </a:gdLst>
            <a:ahLst/>
            <a:cxnLst/>
            <a:rect l="textAreaLeft" t="textAreaTop" r="textAreaRight" b="textAreaBottom"/>
            <a:pathLst>
              <a:path w="4535959" h="4535959">
                <a:moveTo>
                  <a:pt x="0" y="0"/>
                </a:moveTo>
                <a:lnTo>
                  <a:pt x="4535959" y="0"/>
                </a:lnTo>
                <a:lnTo>
                  <a:pt x="4535959" y="4535959"/>
                </a:lnTo>
                <a:lnTo>
                  <a:pt x="0" y="453595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Freeform 9"/>
          <p:cNvSpPr/>
          <p:nvPr/>
        </p:nvSpPr>
        <p:spPr>
          <a:xfrm>
            <a:off x="11977560" y="4140000"/>
            <a:ext cx="5085000" cy="4519080"/>
          </a:xfrm>
          <a:custGeom>
            <a:avLst/>
            <a:gdLst>
              <a:gd name="textAreaLeft" fmla="*/ 0 w 5085000"/>
              <a:gd name="textAreaRight" fmla="*/ 5085360 w 5085000"/>
              <a:gd name="textAreaTop" fmla="*/ 0 h 4519080"/>
              <a:gd name="textAreaBottom" fmla="*/ 4519440 h 4519080"/>
            </a:gdLst>
            <a:ahLst/>
            <a:cxnLst/>
            <a:rect l="textAreaLeft" t="textAreaTop" r="textAreaRight" b="textAreaBottom"/>
            <a:pathLst>
              <a:path w="5085277" h="4519540">
                <a:moveTo>
                  <a:pt x="0" y="0"/>
                </a:moveTo>
                <a:lnTo>
                  <a:pt x="5085278" y="0"/>
                </a:lnTo>
                <a:lnTo>
                  <a:pt x="5085278" y="4519541"/>
                </a:lnTo>
                <a:lnTo>
                  <a:pt x="0" y="4519541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10"/>
          <p:cNvSpPr/>
          <p:nvPr/>
        </p:nvSpPr>
        <p:spPr>
          <a:xfrm>
            <a:off x="0" y="-142920"/>
            <a:ext cx="7086600" cy="12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Analisi grafica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1"/>
          <p:cNvSpPr/>
          <p:nvPr/>
        </p:nvSpPr>
        <p:spPr>
          <a:xfrm>
            <a:off x="4901760" y="1396440"/>
            <a:ext cx="8484480" cy="22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29"/>
              </a:lnSpc>
            </a:pPr>
            <a:r>
              <a:rPr b="1" lang="en-US" sz="252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Source,   Target,   Type,       Relation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29"/>
              </a:lnSpc>
            </a:pP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29"/>
              </a:lnSpc>
            </a:pPr>
            <a:r>
              <a:rPr b="1" lang="en-US" sz="252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G_1_S_1,  G_0_S_0,  Directed,   B_CONTENUTO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29"/>
              </a:lnSpc>
            </a:pPr>
            <a:r>
              <a:rPr b="1" lang="en-US" sz="252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G_0_S_0,  G_3_S_0,  Undirected, IN_COSTA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29"/>
              </a:lnSpc>
            </a:pPr>
            <a:r>
              <a:rPr b="1" lang="en-US" sz="2520" strike="noStrike" u="none">
                <a:solidFill>
                  <a:srgbClr val="000000"/>
                </a:solidFill>
                <a:effectLst/>
                <a:uFillTx/>
                <a:latin typeface="Lucida Console Semi-Bold"/>
                <a:ea typeface="Lucida Console Semi-Bold"/>
              </a:rPr>
              <a:t>G_0_S_0,  G_79_S_0, Directed,   A_CONTENUTO</a:t>
            </a:r>
            <a:endParaRPr b="0" lang="en-US" sz="25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2"/>
          <p:cNvSpPr/>
          <p:nvPr/>
        </p:nvSpPr>
        <p:spPr>
          <a:xfrm>
            <a:off x="4911120" y="4217760"/>
            <a:ext cx="70380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Tutti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3"/>
          <p:cNvSpPr/>
          <p:nvPr/>
        </p:nvSpPr>
        <p:spPr>
          <a:xfrm>
            <a:off x="9144000" y="4217760"/>
            <a:ext cx="197532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 No IN_COSTA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14"/>
          <p:cNvSpPr/>
          <p:nvPr/>
        </p:nvSpPr>
        <p:spPr>
          <a:xfrm>
            <a:off x="14806440" y="4133880"/>
            <a:ext cx="2260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 Focus Cluster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206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8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Freeform 6"/>
          <p:cNvSpPr/>
          <p:nvPr/>
        </p:nvSpPr>
        <p:spPr>
          <a:xfrm>
            <a:off x="1028880" y="1182240"/>
            <a:ext cx="7522560" cy="7522560"/>
          </a:xfrm>
          <a:custGeom>
            <a:avLst/>
            <a:gdLst>
              <a:gd name="textAreaLeft" fmla="*/ 0 w 7522560"/>
              <a:gd name="textAreaRight" fmla="*/ 7522920 w 7522560"/>
              <a:gd name="textAreaTop" fmla="*/ 0 h 7522560"/>
              <a:gd name="textAreaBottom" fmla="*/ 7522920 h 7522560"/>
            </a:gdLst>
            <a:ahLst/>
            <a:cxnLst/>
            <a:rect l="textAreaLeft" t="textAreaTop" r="textAreaRight" b="textAreaBottom"/>
            <a:pathLst>
              <a:path w="7522977" h="7522977">
                <a:moveTo>
                  <a:pt x="0" y="0"/>
                </a:moveTo>
                <a:lnTo>
                  <a:pt x="7522977" y="0"/>
                </a:lnTo>
                <a:lnTo>
                  <a:pt x="7522977" y="7522976"/>
                </a:lnTo>
                <a:lnTo>
                  <a:pt x="0" y="75229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7"/>
          <p:cNvSpPr/>
          <p:nvPr/>
        </p:nvSpPr>
        <p:spPr>
          <a:xfrm>
            <a:off x="0" y="-142920"/>
            <a:ext cx="731520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Analisi grafica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8"/>
          <p:cNvSpPr/>
          <p:nvPr/>
        </p:nvSpPr>
        <p:spPr>
          <a:xfrm>
            <a:off x="4158360" y="1390680"/>
            <a:ext cx="126288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213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5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Freeform 6"/>
          <p:cNvSpPr/>
          <p:nvPr/>
        </p:nvSpPr>
        <p:spPr>
          <a:xfrm>
            <a:off x="1028880" y="1182240"/>
            <a:ext cx="7522560" cy="7522560"/>
          </a:xfrm>
          <a:custGeom>
            <a:avLst/>
            <a:gdLst>
              <a:gd name="textAreaLeft" fmla="*/ 0 w 7522560"/>
              <a:gd name="textAreaRight" fmla="*/ 7522920 w 7522560"/>
              <a:gd name="textAreaTop" fmla="*/ 0 h 7522560"/>
              <a:gd name="textAreaBottom" fmla="*/ 7522920 h 7522560"/>
            </a:gdLst>
            <a:ahLst/>
            <a:cxnLst/>
            <a:rect l="textAreaLeft" t="textAreaTop" r="textAreaRight" b="textAreaBottom"/>
            <a:pathLst>
              <a:path w="7522977" h="7522977">
                <a:moveTo>
                  <a:pt x="0" y="0"/>
                </a:moveTo>
                <a:lnTo>
                  <a:pt x="7522977" y="0"/>
                </a:lnTo>
                <a:lnTo>
                  <a:pt x="7522977" y="7522976"/>
                </a:lnTo>
                <a:lnTo>
                  <a:pt x="0" y="75229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Freeform 7"/>
          <p:cNvSpPr/>
          <p:nvPr/>
        </p:nvSpPr>
        <p:spPr>
          <a:xfrm>
            <a:off x="10102320" y="1182240"/>
            <a:ext cx="4425480" cy="3960720"/>
          </a:xfrm>
          <a:custGeom>
            <a:avLst/>
            <a:gdLst>
              <a:gd name="textAreaLeft" fmla="*/ 0 w 4425480"/>
              <a:gd name="textAreaRight" fmla="*/ 4425840 w 4425480"/>
              <a:gd name="textAreaTop" fmla="*/ 0 h 3960720"/>
              <a:gd name="textAreaBottom" fmla="*/ 3961080 h 3960720"/>
            </a:gdLst>
            <a:ahLst/>
            <a:cxnLst/>
            <a:rect l="textAreaLeft" t="textAreaTop" r="textAreaRight" b="textAreaBottom"/>
            <a:pathLst>
              <a:path w="4425910" h="3961189">
                <a:moveTo>
                  <a:pt x="0" y="0"/>
                </a:moveTo>
                <a:lnTo>
                  <a:pt x="4425910" y="0"/>
                </a:lnTo>
                <a:lnTo>
                  <a:pt x="4425910" y="3961189"/>
                </a:lnTo>
                <a:lnTo>
                  <a:pt x="0" y="39611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0" y="-142920"/>
            <a:ext cx="731520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Analisi grafica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4158360" y="1390680"/>
            <a:ext cx="126288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0"/>
          <p:cNvSpPr/>
          <p:nvPr/>
        </p:nvSpPr>
        <p:spPr>
          <a:xfrm>
            <a:off x="14661720" y="2944440"/>
            <a:ext cx="335880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Principale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222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4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Freeform 6"/>
          <p:cNvSpPr/>
          <p:nvPr/>
        </p:nvSpPr>
        <p:spPr>
          <a:xfrm>
            <a:off x="1028880" y="1182240"/>
            <a:ext cx="7522560" cy="7522560"/>
          </a:xfrm>
          <a:custGeom>
            <a:avLst/>
            <a:gdLst>
              <a:gd name="textAreaLeft" fmla="*/ 0 w 7522560"/>
              <a:gd name="textAreaRight" fmla="*/ 7522920 w 7522560"/>
              <a:gd name="textAreaTop" fmla="*/ 0 h 7522560"/>
              <a:gd name="textAreaBottom" fmla="*/ 7522920 h 7522560"/>
            </a:gdLst>
            <a:ahLst/>
            <a:cxnLst/>
            <a:rect l="textAreaLeft" t="textAreaTop" r="textAreaRight" b="textAreaBottom"/>
            <a:pathLst>
              <a:path w="7522977" h="7522977">
                <a:moveTo>
                  <a:pt x="0" y="0"/>
                </a:moveTo>
                <a:lnTo>
                  <a:pt x="7522977" y="0"/>
                </a:lnTo>
                <a:lnTo>
                  <a:pt x="7522977" y="7522976"/>
                </a:lnTo>
                <a:lnTo>
                  <a:pt x="0" y="752297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Freeform 7"/>
          <p:cNvSpPr/>
          <p:nvPr/>
        </p:nvSpPr>
        <p:spPr>
          <a:xfrm>
            <a:off x="10102320" y="1182240"/>
            <a:ext cx="4425480" cy="3960720"/>
          </a:xfrm>
          <a:custGeom>
            <a:avLst/>
            <a:gdLst>
              <a:gd name="textAreaLeft" fmla="*/ 0 w 4425480"/>
              <a:gd name="textAreaRight" fmla="*/ 4425840 w 4425480"/>
              <a:gd name="textAreaTop" fmla="*/ 0 h 3960720"/>
              <a:gd name="textAreaBottom" fmla="*/ 3961080 h 3960720"/>
            </a:gdLst>
            <a:ahLst/>
            <a:cxnLst/>
            <a:rect l="textAreaLeft" t="textAreaTop" r="textAreaRight" b="textAreaBottom"/>
            <a:pathLst>
              <a:path w="4425910" h="3961189">
                <a:moveTo>
                  <a:pt x="0" y="0"/>
                </a:moveTo>
                <a:lnTo>
                  <a:pt x="4425910" y="0"/>
                </a:lnTo>
                <a:lnTo>
                  <a:pt x="4425910" y="3961189"/>
                </a:lnTo>
                <a:lnTo>
                  <a:pt x="0" y="396118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Freeform 8"/>
          <p:cNvSpPr/>
          <p:nvPr/>
        </p:nvSpPr>
        <p:spPr>
          <a:xfrm>
            <a:off x="10102320" y="5236560"/>
            <a:ext cx="4425480" cy="3468600"/>
          </a:xfrm>
          <a:custGeom>
            <a:avLst/>
            <a:gdLst>
              <a:gd name="textAreaLeft" fmla="*/ 0 w 4425480"/>
              <a:gd name="textAreaRight" fmla="*/ 4425840 w 4425480"/>
              <a:gd name="textAreaTop" fmla="*/ 0 h 3468600"/>
              <a:gd name="textAreaBottom" fmla="*/ 3468960 h 3468600"/>
            </a:gdLst>
            <a:ahLst/>
            <a:cxnLst/>
            <a:rect l="textAreaLeft" t="textAreaTop" r="textAreaRight" b="textAreaBottom"/>
            <a:pathLst>
              <a:path w="4425910" h="3468807">
                <a:moveTo>
                  <a:pt x="0" y="0"/>
                </a:moveTo>
                <a:lnTo>
                  <a:pt x="4425910" y="0"/>
                </a:lnTo>
                <a:lnTo>
                  <a:pt x="4425910" y="3468806"/>
                </a:lnTo>
                <a:lnTo>
                  <a:pt x="0" y="34688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9"/>
          <p:cNvSpPr/>
          <p:nvPr/>
        </p:nvSpPr>
        <p:spPr>
          <a:xfrm>
            <a:off x="0" y="-142920"/>
            <a:ext cx="6858000" cy="12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Analisi grafica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0"/>
          <p:cNvSpPr/>
          <p:nvPr/>
        </p:nvSpPr>
        <p:spPr>
          <a:xfrm>
            <a:off x="4158360" y="1390680"/>
            <a:ext cx="126288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Vicini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1"/>
          <p:cNvSpPr/>
          <p:nvPr/>
        </p:nvSpPr>
        <p:spPr>
          <a:xfrm>
            <a:off x="14661720" y="2944440"/>
            <a:ext cx="335880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Principale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2"/>
          <p:cNvSpPr/>
          <p:nvPr/>
        </p:nvSpPr>
        <p:spPr>
          <a:xfrm>
            <a:off x="14661720" y="6752520"/>
            <a:ext cx="3358800" cy="38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223"/>
              </a:lnSpc>
            </a:pPr>
            <a:r>
              <a:rPr b="1" lang="en-US" sz="23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Secondario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233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5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Freeform 6"/>
          <p:cNvSpPr/>
          <p:nvPr/>
        </p:nvSpPr>
        <p:spPr>
          <a:xfrm>
            <a:off x="252360" y="1028880"/>
            <a:ext cx="949320" cy="1099440"/>
          </a:xfrm>
          <a:custGeom>
            <a:avLst/>
            <a:gdLst>
              <a:gd name="textAreaLeft" fmla="*/ 0 w 949320"/>
              <a:gd name="textAreaRight" fmla="*/ 949680 w 949320"/>
              <a:gd name="textAreaTop" fmla="*/ 0 h 1099440"/>
              <a:gd name="textAreaBottom" fmla="*/ 1099800 h 1099440"/>
            </a:gdLst>
            <a:ahLst/>
            <a:cxnLst/>
            <a:rect l="textAreaLeft" t="textAreaTop" r="textAreaRight" b="textAreaBottom"/>
            <a:pathLst>
              <a:path w="949599" h="1099922">
                <a:moveTo>
                  <a:pt x="0" y="0"/>
                </a:moveTo>
                <a:lnTo>
                  <a:pt x="949599" y="0"/>
                </a:lnTo>
                <a:lnTo>
                  <a:pt x="949599" y="1099922"/>
                </a:lnTo>
                <a:lnTo>
                  <a:pt x="0" y="10999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Freeform 7"/>
          <p:cNvSpPr/>
          <p:nvPr/>
        </p:nvSpPr>
        <p:spPr>
          <a:xfrm>
            <a:off x="789120" y="3509280"/>
            <a:ext cx="5182560" cy="5231160"/>
          </a:xfrm>
          <a:custGeom>
            <a:avLst/>
            <a:gdLst>
              <a:gd name="textAreaLeft" fmla="*/ 0 w 5182560"/>
              <a:gd name="textAreaRight" fmla="*/ 5182920 w 5182560"/>
              <a:gd name="textAreaTop" fmla="*/ 0 h 5231160"/>
              <a:gd name="textAreaBottom" fmla="*/ 5231520 h 5231160"/>
            </a:gdLst>
            <a:ahLst/>
            <a:cxnLst/>
            <a:rect l="textAreaLeft" t="textAreaTop" r="textAreaRight" b="textAreaBottom"/>
            <a:pathLst>
              <a:path w="5183052" h="5231606">
                <a:moveTo>
                  <a:pt x="0" y="0"/>
                </a:moveTo>
                <a:lnTo>
                  <a:pt x="5183052" y="0"/>
                </a:lnTo>
                <a:lnTo>
                  <a:pt x="5183052" y="5231606"/>
                </a:lnTo>
                <a:lnTo>
                  <a:pt x="0" y="52316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0" y="-142920"/>
            <a:ext cx="5407920" cy="11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Clustering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3"/>
          <p:cNvSpPr/>
          <p:nvPr/>
        </p:nvSpPr>
        <p:spPr>
          <a:xfrm>
            <a:off x="1028880" y="1856160"/>
            <a:ext cx="3964680" cy="8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40"/>
              </a:lnSpc>
            </a:pPr>
            <a:r>
              <a:rPr b="1" lang="en-US" sz="28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con tutti i geni</a:t>
            </a:r>
            <a:endParaRPr b="0" lang="en-US" sz="2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40"/>
              </a:lnSpc>
            </a:pPr>
            <a:endParaRPr b="0" lang="en-US" sz="2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241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3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Freeform 6"/>
          <p:cNvSpPr/>
          <p:nvPr/>
        </p:nvSpPr>
        <p:spPr>
          <a:xfrm>
            <a:off x="252360" y="1028880"/>
            <a:ext cx="949320" cy="1099440"/>
          </a:xfrm>
          <a:custGeom>
            <a:avLst/>
            <a:gdLst>
              <a:gd name="textAreaLeft" fmla="*/ 0 w 949320"/>
              <a:gd name="textAreaRight" fmla="*/ 949680 w 949320"/>
              <a:gd name="textAreaTop" fmla="*/ 0 h 1099440"/>
              <a:gd name="textAreaBottom" fmla="*/ 1099800 h 1099440"/>
            </a:gdLst>
            <a:ahLst/>
            <a:cxnLst/>
            <a:rect l="textAreaLeft" t="textAreaTop" r="textAreaRight" b="textAreaBottom"/>
            <a:pathLst>
              <a:path w="949599" h="1099922">
                <a:moveTo>
                  <a:pt x="0" y="0"/>
                </a:moveTo>
                <a:lnTo>
                  <a:pt x="949599" y="0"/>
                </a:lnTo>
                <a:lnTo>
                  <a:pt x="949599" y="1099922"/>
                </a:lnTo>
                <a:lnTo>
                  <a:pt x="0" y="109992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Freeform 7"/>
          <p:cNvSpPr/>
          <p:nvPr/>
        </p:nvSpPr>
        <p:spPr>
          <a:xfrm>
            <a:off x="789120" y="3509280"/>
            <a:ext cx="5182560" cy="5231160"/>
          </a:xfrm>
          <a:custGeom>
            <a:avLst/>
            <a:gdLst>
              <a:gd name="textAreaLeft" fmla="*/ 0 w 5182560"/>
              <a:gd name="textAreaRight" fmla="*/ 5182920 w 5182560"/>
              <a:gd name="textAreaTop" fmla="*/ 0 h 5231160"/>
              <a:gd name="textAreaBottom" fmla="*/ 5231520 h 5231160"/>
            </a:gdLst>
            <a:ahLst/>
            <a:cxnLst/>
            <a:rect l="textAreaLeft" t="textAreaTop" r="textAreaRight" b="textAreaBottom"/>
            <a:pathLst>
              <a:path w="5183052" h="5231606">
                <a:moveTo>
                  <a:pt x="0" y="0"/>
                </a:moveTo>
                <a:lnTo>
                  <a:pt x="5183052" y="0"/>
                </a:lnTo>
                <a:lnTo>
                  <a:pt x="5183052" y="5231606"/>
                </a:lnTo>
                <a:lnTo>
                  <a:pt x="0" y="52316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Freeform 8"/>
          <p:cNvSpPr/>
          <p:nvPr/>
        </p:nvSpPr>
        <p:spPr>
          <a:xfrm>
            <a:off x="6758640" y="3509280"/>
            <a:ext cx="5182560" cy="5231160"/>
          </a:xfrm>
          <a:custGeom>
            <a:avLst/>
            <a:gdLst>
              <a:gd name="textAreaLeft" fmla="*/ 0 w 5182560"/>
              <a:gd name="textAreaRight" fmla="*/ 5182920 w 5182560"/>
              <a:gd name="textAreaTop" fmla="*/ 0 h 5231160"/>
              <a:gd name="textAreaBottom" fmla="*/ 5231520 h 5231160"/>
            </a:gdLst>
            <a:ahLst/>
            <a:cxnLst/>
            <a:rect l="textAreaLeft" t="textAreaTop" r="textAreaRight" b="textAreaBottom"/>
            <a:pathLst>
              <a:path w="5183052" h="5231606">
                <a:moveTo>
                  <a:pt x="0" y="0"/>
                </a:moveTo>
                <a:lnTo>
                  <a:pt x="5183053" y="0"/>
                </a:lnTo>
                <a:lnTo>
                  <a:pt x="5183053" y="5231606"/>
                </a:lnTo>
                <a:lnTo>
                  <a:pt x="0" y="52316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5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Freeform 9"/>
          <p:cNvSpPr/>
          <p:nvPr/>
        </p:nvSpPr>
        <p:spPr>
          <a:xfrm>
            <a:off x="12728160" y="3509280"/>
            <a:ext cx="5182560" cy="5231160"/>
          </a:xfrm>
          <a:custGeom>
            <a:avLst/>
            <a:gdLst>
              <a:gd name="textAreaLeft" fmla="*/ 0 w 5182560"/>
              <a:gd name="textAreaRight" fmla="*/ 5182920 w 5182560"/>
              <a:gd name="textAreaTop" fmla="*/ 0 h 5231160"/>
              <a:gd name="textAreaBottom" fmla="*/ 5231520 h 5231160"/>
            </a:gdLst>
            <a:ahLst/>
            <a:cxnLst/>
            <a:rect l="textAreaLeft" t="textAreaTop" r="textAreaRight" b="textAreaBottom"/>
            <a:pathLst>
              <a:path w="5183052" h="5231606">
                <a:moveTo>
                  <a:pt x="0" y="0"/>
                </a:moveTo>
                <a:lnTo>
                  <a:pt x="5183053" y="0"/>
                </a:lnTo>
                <a:lnTo>
                  <a:pt x="5183053" y="5231606"/>
                </a:lnTo>
                <a:lnTo>
                  <a:pt x="0" y="523160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0"/>
          <p:cNvSpPr/>
          <p:nvPr/>
        </p:nvSpPr>
        <p:spPr>
          <a:xfrm>
            <a:off x="0" y="-142920"/>
            <a:ext cx="5407920" cy="118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941"/>
              </a:lnSpc>
            </a:pPr>
            <a:r>
              <a:rPr b="1" lang="en-US" sz="71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Clustering</a:t>
            </a:r>
            <a:endParaRPr b="0" lang="en-US" sz="7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11"/>
          <p:cNvSpPr/>
          <p:nvPr/>
        </p:nvSpPr>
        <p:spPr>
          <a:xfrm>
            <a:off x="6758640" y="1828800"/>
            <a:ext cx="4355280" cy="12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40"/>
              </a:lnSpc>
            </a:pPr>
            <a:r>
              <a:rPr b="1" lang="en-US" sz="28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Principale VICINI</a:t>
            </a:r>
            <a:endParaRPr b="0" lang="en-US" sz="2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40"/>
              </a:lnSpc>
            </a:pPr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Silhouette score:</a:t>
            </a:r>
            <a:endParaRPr b="0" lang="en-U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40"/>
              </a:lnSpc>
            </a:pPr>
            <a:r>
              <a:rPr b="1" lang="en-US" sz="232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0.015554267913103104</a:t>
            </a:r>
            <a:endParaRPr b="0" lang="en-U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2"/>
          <p:cNvSpPr/>
          <p:nvPr/>
        </p:nvSpPr>
        <p:spPr>
          <a:xfrm>
            <a:off x="12801600" y="1828800"/>
            <a:ext cx="4551840" cy="125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40"/>
              </a:lnSpc>
            </a:pPr>
            <a:r>
              <a:rPr b="1" lang="en-US" sz="28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Secondario VICINI</a:t>
            </a:r>
            <a:endParaRPr b="0" lang="en-US" sz="2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01"/>
              </a:lnSpc>
            </a:pPr>
            <a:r>
              <a:rPr b="1" lang="en-US" sz="22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Silhouette score:</a:t>
            </a:r>
            <a:endParaRPr b="0" lang="en-US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101"/>
              </a:lnSpc>
            </a:pPr>
            <a:r>
              <a:rPr b="1" lang="en-US" sz="22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0.085098035633564</a:t>
            </a:r>
            <a:endParaRPr b="0" lang="en-US" sz="22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3"/>
          <p:cNvSpPr/>
          <p:nvPr/>
        </p:nvSpPr>
        <p:spPr>
          <a:xfrm>
            <a:off x="1028880" y="1856160"/>
            <a:ext cx="3964680" cy="88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940"/>
              </a:lnSpc>
            </a:pPr>
            <a:r>
              <a:rPr b="1" lang="en-US" sz="281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Cluster con tutti i geni</a:t>
            </a:r>
            <a:endParaRPr b="0" lang="en-US" sz="2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3240"/>
              </a:lnSpc>
            </a:pPr>
            <a:endParaRPr b="0" lang="en-US" sz="28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roup 2"/>
          <p:cNvGrpSpPr/>
          <p:nvPr/>
        </p:nvGrpSpPr>
        <p:grpSpPr>
          <a:xfrm>
            <a:off x="0" y="8653680"/>
            <a:ext cx="18287640" cy="1632960"/>
            <a:chOff x="0" y="8653680"/>
            <a:chExt cx="18287640" cy="1632960"/>
          </a:xfrm>
        </p:grpSpPr>
        <p:sp>
          <p:nvSpPr>
            <p:cNvPr id="253" name="Freeform 3"/>
            <p:cNvSpPr/>
            <p:nvPr/>
          </p:nvSpPr>
          <p:spPr>
            <a:xfrm>
              <a:off x="0" y="8798400"/>
              <a:ext cx="18287640" cy="14882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488240"/>
                <a:gd name="textAreaBottom" fmla="*/ 1488600 h 1488240"/>
              </a:gdLst>
              <a:ahLst/>
              <a:cxnLst/>
              <a:rect l="textAreaLeft" t="textAreaTop" r="textAreaRight" b="textAreaBottom"/>
              <a:pathLst>
                <a:path w="4816592" h="392094">
                  <a:moveTo>
                    <a:pt x="0" y="0"/>
                  </a:moveTo>
                  <a:lnTo>
                    <a:pt x="4816592" y="0"/>
                  </a:lnTo>
                  <a:lnTo>
                    <a:pt x="4816592" y="392094"/>
                  </a:lnTo>
                  <a:lnTo>
                    <a:pt x="0" y="392094"/>
                  </a:lnTo>
                  <a:close/>
                </a:path>
              </a:pathLst>
            </a:custGeom>
            <a:solidFill>
              <a:srgbClr val="005eb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TextBox 4"/>
            <p:cNvSpPr/>
            <p:nvPr/>
          </p:nvSpPr>
          <p:spPr>
            <a:xfrm>
              <a:off x="0" y="8653680"/>
              <a:ext cx="18287640" cy="163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0760" rIns="50760" tIns="50760" bIns="50760" anchor="ctr">
              <a:noAutofit/>
            </a:bodyPr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Una metodologia computazionale per il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riconoscimento di clustering alternativi nella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just" defTabSz="914400">
                <a:lnSpc>
                  <a:spcPts val="2659"/>
                </a:lnSpc>
              </a:pPr>
              <a:r>
                <a:rPr b="1" lang="en-US" sz="1900" strike="noStrike" u="none">
                  <a:solidFill>
                    <a:srgbClr val="ffffff"/>
                  </a:solidFill>
                  <a:effectLst/>
                  <a:uFillTx/>
                  <a:latin typeface="Open Sans Bold"/>
                  <a:ea typeface="Open Sans Bold"/>
                </a:rPr>
                <a:t>trascrittomica spaziale</a:t>
              </a:r>
              <a:endParaRPr b="0" lang="en-US" sz="19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5" name="Freeform 5"/>
          <p:cNvSpPr/>
          <p:nvPr/>
        </p:nvSpPr>
        <p:spPr>
          <a:xfrm>
            <a:off x="14528160" y="8986680"/>
            <a:ext cx="3492360" cy="1111680"/>
          </a:xfrm>
          <a:custGeom>
            <a:avLst/>
            <a:gdLst>
              <a:gd name="textAreaLeft" fmla="*/ 0 w 3492360"/>
              <a:gd name="textAreaRight" fmla="*/ 3492720 w 3492360"/>
              <a:gd name="textAreaTop" fmla="*/ 0 h 1111680"/>
              <a:gd name="textAreaBottom" fmla="*/ 1112040 h 1111680"/>
            </a:gdLst>
            <a:ahLst/>
            <a:cxnLst/>
            <a:rect l="textAreaLeft" t="textAreaTop" r="textAreaRight" b="textAreaBottom"/>
            <a:pathLst>
              <a:path w="3492774" h="1112173">
                <a:moveTo>
                  <a:pt x="0" y="0"/>
                </a:moveTo>
                <a:lnTo>
                  <a:pt x="3492774" y="0"/>
                </a:lnTo>
                <a:lnTo>
                  <a:pt x="3492774" y="1112172"/>
                </a:lnTo>
                <a:lnTo>
                  <a:pt x="0" y="111217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6"/>
          <p:cNvSpPr/>
          <p:nvPr/>
        </p:nvSpPr>
        <p:spPr>
          <a:xfrm>
            <a:off x="2705760" y="4300560"/>
            <a:ext cx="1287612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2600"/>
              </a:lnSpc>
            </a:pPr>
            <a:r>
              <a:rPr b="1" lang="en-US" sz="9000" strike="noStrike" u="none">
                <a:solidFill>
                  <a:srgbClr val="000000"/>
                </a:solidFill>
                <a:effectLst/>
                <a:uFillTx/>
                <a:latin typeface="Open Sans Bold"/>
                <a:ea typeface="Open Sans Bold"/>
              </a:rPr>
              <a:t>Grazie per l’attenzione</a:t>
            </a:r>
            <a:endParaRPr b="0" lang="en-US" sz="9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5849</TotalTime>
  <Application>LibreOffice/25.2.6.2$Linux_X86_64 LibreOffice_project/40d1a0e1d5bdf1afaeae24d9ece32bbb00fa66a4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DAG3A6Kgpj4</dc:identifier>
  <dc:language>en-US</dc:language>
  <cp:lastModifiedBy/>
  <dcterms:modified xsi:type="dcterms:W3CDTF">2025-11-23T18:49:21Z</dcterms:modified>
  <cp:revision>180</cp:revision>
  <dc:subject/>
  <dc:title>Presentazione tesi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21</vt:i4>
  </property>
</Properties>
</file>